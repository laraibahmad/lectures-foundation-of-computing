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684F29-5F39-4452-92C1-B68D86BAAA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872330-81AC-4939-A41C-43E492BB1D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FAB734-CBE6-4581-B316-4EB727563B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56C60C-72DE-4C40-B89F-7B970DCD72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D563CA-83EC-4303-A6F1-076FE764C0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65183F-B5DF-4378-A7D9-60CC84AC64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96C863-DA63-44E5-AA8E-6FC4C16507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405C5-9A2B-4E22-B6CF-E15E135EFC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185488-8247-4D4C-AAEE-02EF07C95C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C8310F-BEF8-44C7-AD65-49856D3EA5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0D7E48-83A4-4C84-9BB3-2C2C1E742D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139157-5A1B-4B40-B5E1-CD827A170F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4BA079-1C87-4FA9-8D35-3DD8F9E22D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CF0937-6F32-4A22-BBAE-368F0F3C51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750937-EA81-489A-A7EF-9F0D2F890E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275F98-C998-4691-A091-25F607DB1A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A75FB3-6D6F-429D-8AAA-40BC84A2EC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FC2649-FE4C-4930-8FD9-8A7A1315DA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AF12BF-F1EB-4DF9-AF33-2E6FFFB004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407523-B186-47C5-A849-BBBC9EC10E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5C3CFF-B59C-46DD-B119-3F2942E0E2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4C214F-80FC-4900-AEC7-5DC38B8DF1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40906C-7D8F-4C58-80B8-FB64A12744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B98891-D26E-4A85-AA27-6A3B93DCE0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5D57D4-723C-48F7-97E2-F218B7C4B7A1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30A274-5CA2-4802-9983-CA29B32ACC51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Lecture 3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Pointer declaration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int*  p;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int  *p; //most preferred style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int  * p;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Multiple declarations in the same statement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int x, *p, y;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x = 10;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p = &amp;x;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y = *p; // accessing x throught p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*p = 20; // assigning 20 to x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Initialization of pointer variable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Consolas"/>
              </a:rPr>
              <a:t>int quantity;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Consolas"/>
              </a:rPr>
              <a:t>int *p; // declaration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Consolas"/>
              </a:rPr>
              <a:t>p = &amp;quantity; //initialization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	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Combining initialization with declaration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Consolas"/>
              </a:rPr>
              <a:t>int *p = &amp;quantity; // this is initialization of p not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Consolas"/>
              </a:rPr>
              <a:t>                         </a:t>
            </a: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//*p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We must ensure that the pointer variables always point to the corresponding type of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IN" sz="18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Continue…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float a, b;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int x, *p;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p = &amp;a; /* wrong , erroneous output */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int x, *p = &amp;x; /* valid */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int *p = &amp;x, x; /* invalid because declaration occurres left to right*/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If we want to declare a pointer for future reference after declaring a pointer, we can assign a null value.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   </a:t>
            </a: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int *p = NULL;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   </a:t>
            </a:r>
            <a:r>
              <a:rPr b="0" lang="en-IN" sz="2000" spc="-1" strike="noStrike">
                <a:solidFill>
                  <a:srgbClr val="000000"/>
                </a:solidFill>
                <a:latin typeface="Consolas"/>
              </a:rPr>
              <a:t>int p = 0;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Pointer flexibility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We can make the same pointer point to different data variables in different statements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1" name="Graphic 6" descr=""/>
          <p:cNvPicPr/>
          <p:nvPr/>
        </p:nvPicPr>
        <p:blipFill>
          <a:blip r:embed="rId1"/>
          <a:stretch/>
        </p:blipFill>
        <p:spPr>
          <a:xfrm>
            <a:off x="4043520" y="2381400"/>
            <a:ext cx="4333320" cy="2121480"/>
          </a:xfrm>
          <a:prstGeom prst="rect">
            <a:avLst/>
          </a:prstGeom>
          <a:ln w="0">
            <a:noFill/>
          </a:ln>
        </p:spPr>
      </p:pic>
      <p:sp>
        <p:nvSpPr>
          <p:cNvPr id="92" name="TextBox 7"/>
          <p:cNvSpPr/>
          <p:nvPr/>
        </p:nvSpPr>
        <p:spPr>
          <a:xfrm>
            <a:off x="1455120" y="2787480"/>
            <a:ext cx="224136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int x, y, z, *p;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p = &amp;x;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p = &amp;y;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p = &amp;z;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IN" sz="18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Continue…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algn="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We can also use different pointers to point to the same data variable.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1897560" y="2934360"/>
            <a:ext cx="2437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int x;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int *p1 = &amp;x;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int *p2 = &amp;x;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int *p3 = &amp;x;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raphic 9" descr=""/>
          <p:cNvPicPr/>
          <p:nvPr/>
        </p:nvPicPr>
        <p:blipFill>
          <a:blip r:embed="rId1"/>
          <a:stretch/>
        </p:blipFill>
        <p:spPr>
          <a:xfrm>
            <a:off x="4946400" y="2340000"/>
            <a:ext cx="4009680" cy="209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Accessing a variable through its pointer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* (asterisk) is also called the 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indirection operator 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dereferencing operator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1110960" y="2828880"/>
            <a:ext cx="60660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int quantity, *p, n;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quantity = 179;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p = &amp;quantity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n = *p; /*here asterisk is value at address 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Graphic 5" descr=""/>
          <p:cNvPicPr/>
          <p:nvPr/>
        </p:nvPicPr>
        <p:blipFill>
          <a:blip r:embed="rId1"/>
          <a:stretch/>
        </p:blipFill>
        <p:spPr>
          <a:xfrm>
            <a:off x="6961320" y="2400480"/>
            <a:ext cx="4119480" cy="23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IN" sz="1800" spc="-1" strike="noStrike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Continue…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Important points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2123640" y="2384640"/>
            <a:ext cx="31262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p = &amp;quantity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n = *p;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/* equivalent to */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n = *&amp;quantity;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/*equivalent to */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Consolas"/>
              </a:rPr>
              <a:t>n = quantity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Application>LibreOffice/7.4.7.2$Linux_X86_64 LibreOffice_project/40$Build-2</Application>
  <AppVersion>15.0000</AppVersion>
  <Words>381</Words>
  <Paragraphs>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2026-01-23T03:38:31Z</dcterms:created>
  <dc:creator>Laraib Ahmad</dc:creator>
  <dc:description/>
  <dc:language>en-IN</dc:language>
  <cp:lastModifiedBy/>
  <dcterms:modified xsi:type="dcterms:W3CDTF">2026-01-28T11:35:25Z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