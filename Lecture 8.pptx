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jt3TbFqmYAy3OtmV5KL3P2IpqF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787AB4-0F70-4FAE-A5E4-8335D19952D7}">
  <a:tblStyle styleId="{37787AB4-0F70-4FAE-A5E4-8335D19952D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777519D-3B7C-42C7-BE2F-6A133D55509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428a0dc5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428a0dc5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428a0dc51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428a0dc5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d26dd9a7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d26dd9a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d26dd9a7b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d26dd9a7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d26dd9a7b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d26dd9a7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d26dd9a7b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d26dd9a7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6000"/>
              <a:buFont typeface="Calibri"/>
              <a:buNone/>
            </a:pPr>
            <a:r>
              <a:rPr lang="en-IN">
                <a:solidFill>
                  <a:srgbClr val="1E4E79"/>
                </a:solidFill>
              </a:rPr>
              <a:t>Lecture 8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4400"/>
              <a:buFont typeface="Calibri"/>
              <a:buNone/>
            </a:pPr>
            <a:r>
              <a:rPr lang="en-IN">
                <a:solidFill>
                  <a:srgbClr val="1E4E79"/>
                </a:solidFill>
              </a:rPr>
              <a:t>File Management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We use printf() and scanf() to output and input the data from terminal(screen and keyboard). However, many real-life problems involved large volume of data. Console based I/O operations poses problem as follows: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IN"/>
              <a:t>It becomes time consuming to handle large volume of data through terminal.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IN"/>
              <a:t>The entire data is lost when either  the program is terminated or the computer is turned off.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</a:pPr>
            <a:r>
              <a:rPr lang="en-IN" sz="1800">
                <a:solidFill>
                  <a:srgbClr val="1E4E79"/>
                </a:solidFill>
              </a:rPr>
              <a:t>Continue…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327355"/>
            <a:ext cx="10515600" cy="4849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48135"/>
              </a:buClr>
              <a:buSzPts val="2800"/>
              <a:buChar char="•"/>
            </a:pPr>
            <a:r>
              <a:rPr lang="en-IN" u="sng">
                <a:solidFill>
                  <a:srgbClr val="548135"/>
                </a:solidFill>
              </a:rPr>
              <a:t>Solution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If we store data on the disk and read whenever is necessary. Without destroying the data.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This method employs the concept files to store data.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48135"/>
              </a:buClr>
              <a:buSzPts val="2800"/>
              <a:buChar char="•"/>
            </a:pPr>
            <a:r>
              <a:rPr lang="en-IN" u="sng">
                <a:solidFill>
                  <a:srgbClr val="548135"/>
                </a:solidFill>
              </a:rPr>
              <a:t>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 file is a place on the disk where a group of related data is stored.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Example-&gt; .txt file, your program .c file, your image .jpg or .jpeg file.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4400"/>
              <a:buFont typeface="Calibri"/>
              <a:buNone/>
            </a:pPr>
            <a:r>
              <a:rPr lang="en-IN">
                <a:solidFill>
                  <a:srgbClr val="2E75B5"/>
                </a:solidFill>
              </a:rPr>
              <a:t>Operations on File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Naming a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Opening a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Reading data from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Writing data to a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Closing a file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1800"/>
              <a:buFont typeface="Calibri"/>
              <a:buNone/>
            </a:pPr>
            <a:r>
              <a:rPr lang="en-IN" sz="1800">
                <a:solidFill>
                  <a:srgbClr val="2E75B5"/>
                </a:solidFill>
              </a:rPr>
              <a:t>Continue…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229032"/>
            <a:ext cx="10515600" cy="4947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We will use C programming library functions to operations on file. This is called the high level I/O functions.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110" name="Google Shape;110;p5"/>
          <p:cNvGraphicFramePr/>
          <p:nvPr/>
        </p:nvGraphicFramePr>
        <p:xfrm>
          <a:off x="1789471" y="21846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{37787AB4-0F70-4FAE-A5E4-8335D19952D7}</a:tableStyleId>
              </a:tblPr>
              <a:tblGrid>
                <a:gridCol w="4050900"/>
                <a:gridCol w="4064000"/>
              </a:tblGrid>
              <a:tr h="683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Function Name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Operation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83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fopen()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Opens specified file, if file does not exist the create file with specified name and then open it.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83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fclose()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Closes the current file which has been opened for use.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83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getc()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Reads a character from file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683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putc()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Writes a character to a file.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6830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fprintf()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printf() write on the screen likewise fprintf() writes in file.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428a0dc51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0B5394"/>
                </a:solidFill>
              </a:rPr>
              <a:t>continue…</a:t>
            </a:r>
            <a:endParaRPr sz="1800">
              <a:solidFill>
                <a:srgbClr val="0B5394"/>
              </a:solidFill>
            </a:endParaRPr>
          </a:p>
        </p:txBody>
      </p:sp>
      <p:sp>
        <p:nvSpPr>
          <p:cNvPr id="116" name="Google Shape;116;g3c428a0dc51_0_0"/>
          <p:cNvSpPr txBox="1"/>
          <p:nvPr>
            <p:ph idx="1" type="body"/>
          </p:nvPr>
        </p:nvSpPr>
        <p:spPr>
          <a:xfrm>
            <a:off x="838200" y="1285875"/>
            <a:ext cx="10515600" cy="489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17" name="Google Shape;117;g3c428a0dc51_0_0"/>
          <p:cNvGraphicFramePr/>
          <p:nvPr/>
        </p:nvGraphicFramePr>
        <p:xfrm>
          <a:off x="952500" y="228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{5777519D-3B7C-42C7-BE2F-6A133D555090}</a:tableStyleId>
              </a:tblPr>
              <a:tblGrid>
                <a:gridCol w="5143500"/>
                <a:gridCol w="514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fscanf()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l</a:t>
                      </a:r>
                      <a:r>
                        <a:rPr lang="en-IN"/>
                        <a:t>ike scanf() reads data </a:t>
                      </a:r>
                      <a:r>
                        <a:rPr lang="en-IN"/>
                        <a:t>values</a:t>
                      </a:r>
                      <a:r>
                        <a:rPr lang="en-IN"/>
                        <a:t> from keyboard fscanf() reads data values from files.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getw()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Reads an integer from file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putw()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Writes an inter to a file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fseek()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Sets the position to a desired point in the file.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ftell()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Gives the current </a:t>
                      </a:r>
                      <a:r>
                        <a:rPr lang="en-IN"/>
                        <a:t>position in the file (in terms of bytes from the start).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rewind()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/>
                        <a:t>Sets the position to the beginning of the file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428a0dc51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0B5394"/>
                </a:solidFill>
              </a:rPr>
              <a:t>Defining and Opening a file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123" name="Google Shape;123;g3c428a0dc51_0_6"/>
          <p:cNvSpPr txBox="1"/>
          <p:nvPr>
            <p:ph idx="1" type="body"/>
          </p:nvPr>
        </p:nvSpPr>
        <p:spPr>
          <a:xfrm>
            <a:off x="789500" y="1441200"/>
            <a:ext cx="10515600" cy="5416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If we want to store data in a file in the secondary memory, we must specify following </a:t>
            </a:r>
            <a:r>
              <a:rPr lang="en-IN"/>
              <a:t>things</a:t>
            </a:r>
            <a:r>
              <a:rPr lang="en-IN"/>
              <a:t> about the file, to the operating system: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-IN"/>
              <a:t>File name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-IN"/>
              <a:t>Data Structure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AutoNum type="romanLcPeriod"/>
            </a:pPr>
            <a:r>
              <a:rPr lang="en-IN"/>
              <a:t>Purpose</a:t>
            </a:r>
            <a:endParaRPr/>
          </a:p>
          <a:p>
            <a:pPr indent="0" lvl="0" marL="13716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I. Filename name contains two parts. First is name of file as string and second is extension</a:t>
            </a:r>
            <a:endParaRPr/>
          </a:p>
          <a:p>
            <a:pPr indent="0" lvl="0" marL="13716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i</a:t>
            </a:r>
            <a:r>
              <a:rPr lang="en-IN"/>
              <a:t>i. Data Structure of a file is defined as FILE in the library of standard I/O function definition. Therefore all files should be declared as type FILE before they are use.</a:t>
            </a:r>
            <a:endParaRPr/>
          </a:p>
          <a:p>
            <a:pPr indent="0" lvl="0" marL="13716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i</a:t>
            </a:r>
            <a:r>
              <a:rPr lang="en-IN"/>
              <a:t>ii. When we open a file, we must specify what we want to do with the file. For example, we may write data to the file or read the already existing file.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d26dd9a7b_0_0"/>
          <p:cNvSpPr txBox="1"/>
          <p:nvPr>
            <p:ph type="title"/>
          </p:nvPr>
        </p:nvSpPr>
        <p:spPr>
          <a:xfrm>
            <a:off x="838200" y="75125"/>
            <a:ext cx="10515600" cy="945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1155CC"/>
                </a:solidFill>
              </a:rPr>
              <a:t>continue…</a:t>
            </a:r>
            <a:endParaRPr sz="1800">
              <a:solidFill>
                <a:srgbClr val="1155CC"/>
              </a:solidFill>
            </a:endParaRPr>
          </a:p>
        </p:txBody>
      </p:sp>
      <p:sp>
        <p:nvSpPr>
          <p:cNvPr id="129" name="Google Shape;129;g3bd26dd9a7b_0_0"/>
          <p:cNvSpPr txBox="1"/>
          <p:nvPr>
            <p:ph idx="1" type="body"/>
          </p:nvPr>
        </p:nvSpPr>
        <p:spPr>
          <a:xfrm>
            <a:off x="838200" y="1122225"/>
            <a:ext cx="10515600" cy="5054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General format for declaring and opening a file:</a:t>
            </a:r>
            <a:endParaRPr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FILE *fp;</a:t>
            </a:r>
            <a:endParaRPr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f</a:t>
            </a:r>
            <a:r>
              <a:rPr lang="en-IN"/>
              <a:t>p = fopen(“filename”, “mode”);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This pointer which contains all the information about the file is subsequently used as a communication link between the </a:t>
            </a:r>
            <a:r>
              <a:rPr lang="en-IN"/>
              <a:t>system and the program.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fp contains the address of the address of file structure. File  structure contains the following information about file: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file current position, file open mode (read, write,...), buffer information, file description etc.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d26dd9a7b_0_5"/>
          <p:cNvSpPr txBox="1"/>
          <p:nvPr>
            <p:ph type="title"/>
          </p:nvPr>
        </p:nvSpPr>
        <p:spPr>
          <a:xfrm>
            <a:off x="838200" y="365125"/>
            <a:ext cx="10515600" cy="84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1155CC"/>
                </a:solidFill>
              </a:rPr>
              <a:t>continue…</a:t>
            </a:r>
            <a:endParaRPr sz="1800">
              <a:solidFill>
                <a:srgbClr val="1155CC"/>
              </a:solidFill>
            </a:endParaRPr>
          </a:p>
        </p:txBody>
      </p:sp>
      <p:sp>
        <p:nvSpPr>
          <p:cNvPr id="135" name="Google Shape;135;g3bd26dd9a7b_0_5"/>
          <p:cNvSpPr txBox="1"/>
          <p:nvPr>
            <p:ph idx="1" type="body"/>
          </p:nvPr>
        </p:nvSpPr>
        <p:spPr>
          <a:xfrm>
            <a:off x="838200" y="1368700"/>
            <a:ext cx="10515600" cy="480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Mode of the file are as follows: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CC0000"/>
                </a:solidFill>
              </a:rPr>
              <a:t>r</a:t>
            </a:r>
            <a:r>
              <a:rPr lang="en-IN"/>
              <a:t>    open the file for reading only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CC0000"/>
                </a:solidFill>
              </a:rPr>
              <a:t>w</a:t>
            </a:r>
            <a:r>
              <a:rPr lang="en-IN"/>
              <a:t>  open the file writing only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CC0000"/>
                </a:solidFill>
              </a:rPr>
              <a:t>a</a:t>
            </a:r>
            <a:r>
              <a:rPr lang="en-IN"/>
              <a:t>   open the file for appending data to it.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CC0000"/>
                </a:solidFill>
              </a:rPr>
              <a:t>r</a:t>
            </a:r>
            <a:r>
              <a:rPr lang="en-IN">
                <a:solidFill>
                  <a:srgbClr val="CC0000"/>
                </a:solidFill>
              </a:rPr>
              <a:t>+</a:t>
            </a:r>
            <a:r>
              <a:rPr lang="en-IN"/>
              <a:t>  the existing file is opened for both reading and writing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CC0000"/>
                </a:solidFill>
              </a:rPr>
              <a:t>w</a:t>
            </a:r>
            <a:r>
              <a:rPr lang="en-IN">
                <a:solidFill>
                  <a:srgbClr val="CC0000"/>
                </a:solidFill>
              </a:rPr>
              <a:t>+</a:t>
            </a:r>
            <a:r>
              <a:rPr lang="en-IN"/>
              <a:t> same as </a:t>
            </a:r>
            <a:r>
              <a:rPr lang="en-IN">
                <a:solidFill>
                  <a:srgbClr val="CC0000"/>
                </a:solidFill>
              </a:rPr>
              <a:t>w</a:t>
            </a:r>
            <a:r>
              <a:rPr lang="en-IN"/>
              <a:t> except both for reading and writing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CC0000"/>
                </a:solidFill>
              </a:rPr>
              <a:t>a</a:t>
            </a:r>
            <a:r>
              <a:rPr lang="en-IN">
                <a:solidFill>
                  <a:srgbClr val="CC0000"/>
                </a:solidFill>
              </a:rPr>
              <a:t>+</a:t>
            </a:r>
            <a:r>
              <a:rPr lang="en-IN"/>
              <a:t> same as </a:t>
            </a:r>
            <a:r>
              <a:rPr lang="en-IN">
                <a:solidFill>
                  <a:srgbClr val="CC0000"/>
                </a:solidFill>
              </a:rPr>
              <a:t>a</a:t>
            </a:r>
            <a:r>
              <a:rPr lang="en-IN"/>
              <a:t> except both for reading and writing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d26dd9a7b_0_10"/>
          <p:cNvSpPr txBox="1"/>
          <p:nvPr>
            <p:ph type="title"/>
          </p:nvPr>
        </p:nvSpPr>
        <p:spPr>
          <a:xfrm>
            <a:off x="838200" y="365125"/>
            <a:ext cx="10515600" cy="554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rgbClr val="1155CC"/>
                </a:solidFill>
              </a:rPr>
              <a:t>continue…</a:t>
            </a:r>
            <a:endParaRPr sz="1800">
              <a:solidFill>
                <a:srgbClr val="1155CC"/>
              </a:solidFill>
            </a:endParaRPr>
          </a:p>
        </p:txBody>
      </p:sp>
      <p:sp>
        <p:nvSpPr>
          <p:cNvPr id="141" name="Google Shape;141;g3bd26dd9a7b_0_10"/>
          <p:cNvSpPr txBox="1"/>
          <p:nvPr>
            <p:ph idx="1" type="body"/>
          </p:nvPr>
        </p:nvSpPr>
        <p:spPr>
          <a:xfrm>
            <a:off x="838200" y="1151225"/>
            <a:ext cx="10515600" cy="5025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    		FILE *p1, *p2;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		P1 = fopen(“data”, “r”);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		</a:t>
            </a:r>
            <a:r>
              <a:rPr lang="en-IN"/>
              <a:t>p</a:t>
            </a:r>
            <a:r>
              <a:rPr lang="en-IN"/>
              <a:t>2 = fopen(“results”, “w”);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d26dd9a7b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0B5394"/>
                </a:solidFill>
              </a:rPr>
              <a:t>Closing a File</a:t>
            </a:r>
            <a:endParaRPr>
              <a:solidFill>
                <a:srgbClr val="0B5394"/>
              </a:solidFill>
            </a:endParaRPr>
          </a:p>
        </p:txBody>
      </p:sp>
      <p:sp>
        <p:nvSpPr>
          <p:cNvPr id="147" name="Google Shape;147;g3bd26dd9a7b_0_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Buffer = RAM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File = Hard Disk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A file must be closed as soon as all operations on it has been completed. This ensures that all outstanding information associated with file is </a:t>
            </a:r>
            <a:r>
              <a:rPr lang="en-IN"/>
              <a:t>flushed</a:t>
            </a:r>
            <a:r>
              <a:rPr lang="en-IN"/>
              <a:t> out from the buffers and links to file are broken.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Closing the unwanted file might help to open the </a:t>
            </a:r>
            <a:r>
              <a:rPr lang="en-IN"/>
              <a:t>required</a:t>
            </a:r>
            <a:r>
              <a:rPr lang="en-IN"/>
              <a:t> files.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I/O library supports a function to do this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IN"/>
              <a:t>		fclose(file_pointer)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2026-02-05T02:50:14Z</dcterms:created>
  <dc:creator>Laraib Ahmad</dc:creator>
</cp:coreProperties>
</file>